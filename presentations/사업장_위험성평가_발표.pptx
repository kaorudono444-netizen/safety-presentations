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슬라이드별 내용: 사업장_위험성평가_발표_slides.md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다음 내용은 PowerPoint로 바로 복사/붙여넣기하여 편집 가능한 슬라이드 구성입니다. 이미지 파일(목차 이미지는 이미지1)과 차트 데이터는 charts.csv를 참조하세요.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슬라이드 1 — 표지</a:t>
            </a:r>
          </a:p>
          <a:p>
            <a:pPr lvl="0" indent="0" marL="0">
              <a:buNone/>
            </a:pPr>
            <a:r>
              <a:rPr/>
              <a:t>제목: 사업장 위험성평가 경진대회 발표 본문: - 팀명: [팀명 입력] - 사업장명: [사업장명 입력] - 발표자: [발표자명] | 직책: [직책 입력] - 제출일: [YYYY.MM.DD]</a:t>
            </a:r>
          </a:p>
          <a:p>
            <a:pPr lvl="0" indent="0" marL="0">
              <a:buNone/>
            </a:pPr>
            <a:r>
              <a:rPr/>
              <a:t>이미지 플레이스홀더: 오른쪽 하단 로고(선택)</a:t>
            </a:r>
          </a:p>
          <a:p>
            <a:pPr lvl="0" indent="0" marL="0">
              <a:buNone/>
            </a:pPr>
            <a:r>
              <a:rPr/>
              <a:t>발표자 노트: 안녕하세요. ○○팀의 ○○입니다. 본 발표에서는 본 사업장의 주요 위험요인 도출과 우선 개선방안 및 기대효과를 제시하겠습니다.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슬라이드 2 — 목차 (제공 이미지 사용)</a:t>
            </a:r>
          </a:p>
          <a:p>
            <a:pPr lvl="0" indent="0" marL="0">
              <a:buNone/>
            </a:pPr>
            <a:r>
              <a:rPr/>
              <a:t>지침: 제공된 이미지(Image1)을 슬라이드 전체로 삽입(풀 슬라이드 배경 또는 중심에 꽉 차게). 이미지 해상도 권장 1920×1080.</a:t>
            </a:r>
          </a:p>
          <a:p>
            <a:pPr lvl="0" indent="0" marL="0">
              <a:buNone/>
            </a:pPr>
            <a:r>
              <a:rPr/>
              <a:t>발표자 노트: 목차 이미지를 통해 전체 흐름을 한눈에 보여드립니다. 발표 중 해당 섹션으로 이동할 때마다 목차의 해당 항목을 강조하세요.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슬라이드 3 — 요약 (Executive Summary)</a:t>
            </a:r>
          </a:p>
          <a:p>
            <a:pPr lvl="0" indent="0" marL="0">
              <a:buNone/>
            </a:pPr>
            <a:r>
              <a:rPr/>
              <a:t>제목: 요약 본문(불릿): - 중점 위험 Top3(예시): 1) 추락(고소작업) 2) 크레인·와이어 손상 및 협착 3) 포크리프트 충돌(카메라/모션감지 부재) - 제안 요약: 추락방지대·CCTV·포크카메라·모션감지센서·크레인 정비 강화 등(공학적·관리적 조치 병행) - 기대효과(샘플): 연간 사고건수 40% 감소, 연간 비용 절감 약 5,000,000원(샘플)</a:t>
            </a:r>
          </a:p>
          <a:p>
            <a:pPr lvl="0" indent="0" marL="0">
              <a:buNone/>
            </a:pPr>
            <a:r>
              <a:rPr/>
              <a:t>발표자 노트: 심사위원은 요약에서 문제·해결·효과를 즉시 파악합니다. 숫자를 명확히 제시하세요(샘플 수치 교체 권장).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슬라이드 4 — 사업장 개요</a:t>
            </a:r>
          </a:p>
          <a:p>
            <a:pPr lvl="0" indent="0" marL="0">
              <a:buNone/>
            </a:pPr>
            <a:r>
              <a:rPr/>
              <a:t>제목: 사업장 개요 본문(표형): - 업종: [예: 건설 / 굴착·터널 공사 등] - 주요 공정: 굴착 / TBM 운용 / 크레인 작업 / 자재 이송 - 근로자 수: [숫자 입력] 명, 근무형태: [교대/상근 등] - 주요 설비: 굴착기, 크레인, 포크리프트, TBM 등</a:t>
            </a:r>
          </a:p>
          <a:p>
            <a:pPr lvl="0" indent="0" marL="0">
              <a:buNone/>
            </a:pPr>
            <a:r>
              <a:rPr/>
              <a:t>이미지 플레이스홀더: 상단 또는 우측에 ‘현장 도면/사진(플레이스홀더 A)’</a:t>
            </a:r>
          </a:p>
          <a:p>
            <a:pPr lvl="0" indent="0" marL="0">
              <a:buNone/>
            </a:pPr>
            <a:r>
              <a:rPr/>
              <a:t>발표자 노트: 사업장 규모와 주요 공정을 간단 명료하게 설명해, 위험 요인 배경을 제공합니다.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슬라이드 5 — 평가 방법론</a:t>
            </a:r>
          </a:p>
          <a:p>
            <a:pPr lvl="0" indent="0" marL="0">
              <a:buNone/>
            </a:pPr>
            <a:r>
              <a:rPr/>
              <a:t>제목: 평가 방법론 본문(불릿): - 방법: 작업별 유해·위험요인 도출 → HIRA/JSA 기반 위험도 평가 - 조사기간: [샘플] 2026.07.01 ~ 2026.07.05 - 참여자: 안전담당자, 현장작업자, 외부 전문가(필요 시) - 데이터: 관찰·인터뷰·측정(소음/분진 등) 및 사고이력 분석</a:t>
            </a:r>
          </a:p>
          <a:p>
            <a:pPr lvl="0" indent="0" marL="0">
              <a:buNone/>
            </a:pPr>
            <a:r>
              <a:rPr/>
              <a:t>발표자 노트: 방법론의 객관성(다양한 데이터 소스와 참여자 구성)을 강조하세요.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슬라이드 6 — 위험요인 식별 (사진 3개)</a:t>
            </a:r>
          </a:p>
          <a:p>
            <a:pPr lvl="0" indent="0" marL="0">
              <a:buNone/>
            </a:pPr>
            <a:r>
              <a:rPr/>
              <a:t>제목: 위험요인 식별(현장 사진)</a:t>
            </a:r>
          </a:p>
          <a:p>
            <a:pPr lvl="0" indent="0" marL="0">
              <a:buNone/>
            </a:pPr>
            <a:r>
              <a:rPr/>
              <a:t>레이아웃: 3분할 이미지(왼/가운데/오른쪽) — 각 이미지 아래 캡션 - 사진 A 플레이스홀더: 굴착기 작업 시 협착·전도 위험 (캡션: 굴착기 주변 안전거리 미흡) - 사진 B 플레이스홀더: 고소작업 추락 위험 (캡션: 추락방지대 미비) - 사진 C 플레이스홀더: 포크리프트 시야 사각지대 (캡션: 카메라/센서 부재)</a:t>
            </a:r>
          </a:p>
          <a:p>
            <a:pPr lvl="0" indent="0" marL="0">
              <a:buNone/>
            </a:pPr>
            <a:r>
              <a:rPr/>
              <a:t>발표자 노트: 각 사진당 1문장으로 위험의 핵심(무엇이 위험인지, 누구에게 영향이 있는지)을 설명하세요.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슬라이드 7 — 위험도 평가(매트릭스)</a:t>
            </a:r>
          </a:p>
          <a:p>
            <a:pPr lvl="0" indent="0" marL="0">
              <a:buNone/>
            </a:pPr>
            <a:r>
              <a:rPr/>
              <a:t>제목: 위험도 평가 (Risk Matrix)</a:t>
            </a:r>
          </a:p>
          <a:p>
            <a:pPr lvl="0" indent="0" marL="0">
              <a:buNone/>
            </a:pPr>
            <a:r>
              <a:rPr/>
              <a:t>본문: 5×5 매트릭스(Severity 1–5, Likelihood 1–5) — 색상으로 우선순위 구분(녹→노랑→주황→빨강)</a:t>
            </a:r>
          </a:p>
          <a:p>
            <a:pPr lvl="0" indent="0" marL="0">
              <a:buNone/>
            </a:pPr>
            <a:r>
              <a:rPr/>
              <a:t>표 예시(붙여넣기용): - 헤더: 위험명 | Likelihood | Severity | Risk Score | 우선순위 - 굴착기 협착 가능성 | 3 | 4 | 12 | 고 - 고소작업 추락 | 4 | 5 | 20 | 최우선 - 포크리프트 충돌 | 3 | 3 | 9 | 중 - 크레인 와이어 파손 | 2 | 5 | 10 | 고</a:t>
            </a:r>
          </a:p>
          <a:p>
            <a:pPr lvl="0" indent="0" marL="0">
              <a:buNone/>
            </a:pPr>
            <a:r>
              <a:rPr/>
              <a:t>발표자 노트: 평정 근거(빈도·노출인원·사고기록)를 간단히 언급하고, 최우선 항목을 강조하세요.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슬라이드 8 — 상위 3위 상세</a:t>
            </a:r>
          </a:p>
          <a:p>
            <a:pPr lvl="0" indent="0" marL="0">
              <a:buNone/>
            </a:pPr>
            <a:r>
              <a:rPr/>
              <a:t>제목: 우선순위 상위 3개 위험(상세)</a:t>
            </a:r>
          </a:p>
          <a:p>
            <a:pPr lvl="0" indent="0" marL="0">
              <a:buNone/>
            </a:pPr>
            <a:r>
              <a:rPr/>
              <a:t>본문(각 항목별 블록): 1) 고소작업 추락 (Risk 20) - 원인: 안전난간 미비, 작업자 보호구 착용 미흡, 장비 접근 통제 미흡 - 영향: 중상·사망 가능성, 공사지연 2) 굴착기 협착·전도 (Risk 12) - 원인: 작업영역 표지 미흡, 장비 점검 미흡 - 영향: 장비손상·인명피해 3) 포크리프트 충돌(시야사각) (Risk 9) - 원인: 후방 카메라/센서 미설치, 작업동선 분리 미비 - 영향: 타작업자 충돌·부상</a:t>
            </a:r>
          </a:p>
          <a:p>
            <a:pPr lvl="0" indent="0" marL="0">
              <a:buNone/>
            </a:pPr>
            <a:r>
              <a:rPr/>
              <a:t>발표자 노트: 각 항목에 대해 ’무엇이 문제인지’와 ’왜 지금 해결해야 하는지’를 간결히 말하세요.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슬라이드 9 — 개선대책 (표)</a:t>
            </a:r>
          </a:p>
          <a:p>
            <a:pPr lvl="0" indent="0" marL="0">
              <a:buNone/>
            </a:pPr>
            <a:r>
              <a:rPr/>
              <a:t>제목: 개선대책(공학적·관리적·PPE)</a:t>
            </a:r>
          </a:p>
          <a:p>
            <a:pPr lvl="0" indent="0" marL="0">
              <a:buNone/>
            </a:pPr>
            <a:r>
              <a:rPr/>
              <a:t>본문(표) - 헤더: 위험명 | 개선안 | 예상비용(원) | 소요기간 | 담당부서 - 고소작업 추락 | 추락방지대 설치 + 안전난간 보강 + 안전교육 | 1,200,000 | 4주 | 안전팀·현장팀 - 굴착기 협착 | 스마트 에어백(굴착기 보조장치) + 작업영역 표시 | 2,000,000 | 6주 | 설비팀·안전팀 - 포크리프트 충돌 | 포크카메라 및 모션감지센서 설치 | 800,000 | 3주 | 물류팀·안전팀</a:t>
            </a:r>
          </a:p>
          <a:p>
            <a:pPr lvl="0" indent="0" marL="0">
              <a:buNone/>
            </a:pPr>
            <a:r>
              <a:rPr/>
              <a:t>발표자 노트: 비용·기간·담당을 분명히 제시해 실행가능성을 어필하세요.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슬라이드 10 — 기대효과 및 비용대비효과 (차트)</a:t>
            </a:r>
          </a:p>
          <a:p>
            <a:pPr lvl="0" indent="0" marL="0">
              <a:buNone/>
            </a:pPr>
            <a:r>
              <a:rPr/>
              <a:t>제목: 기대효과 (사고추세 &amp; 비용대비효과)</a:t>
            </a:r>
          </a:p>
          <a:p>
            <a:pPr lvl="0" indent="0" marL="0">
              <a:buNone/>
            </a:pPr>
            <a:r>
              <a:rPr/>
              <a:t>차트 A(사고 건수 연도별 추세): charts.csv의 ‘accident_trend’ 데이터를 사용 차트 B(비용 vs 연간 절감): charts.csv의 ‘cost_effect’ 데이터를 사용</a:t>
            </a:r>
          </a:p>
          <a:p>
            <a:pPr lvl="0" indent="0" marL="0">
              <a:buNone/>
            </a:pPr>
            <a:r>
              <a:rPr/>
              <a:t>발표자 노트: 비용투자 대비 빠른 회수(ROI)을 강조하고, 사고 감소(정성적·정량적 결과)를 연결하세요.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슬라이드 11 — 실행 및 모니터링</a:t>
            </a:r>
          </a:p>
          <a:p>
            <a:pPr lvl="0" indent="0" marL="0">
              <a:buNone/>
            </a:pPr>
            <a:r>
              <a:rPr/>
              <a:t>제목: 실행 계획 및 모니터링</a:t>
            </a:r>
          </a:p>
          <a:p>
            <a:pPr lvl="0" indent="0" marL="0">
              <a:buNone/>
            </a:pPr>
            <a:r>
              <a:rPr/>
              <a:t>본문(타임라인 + KPI 블록): - 1단계(월1): 우선설치(추락방지대·카메라) → 책임: 안전팀 - 2단계(월2–3): 장비보강(스마트에어백·센서) → 책임: 설비팀 - KPI: 월간 위험관찰건수, 교육실시율(%), 사고건수, 장비점검 이행률(%)</a:t>
            </a:r>
          </a:p>
          <a:p>
            <a:pPr lvl="0" indent="0" marL="0">
              <a:buNone/>
            </a:pPr>
            <a:r>
              <a:rPr/>
              <a:t>발표자 노트: 실행 일정과 점검주기, 책임소재를 명확히 설명하세요. 초기 모니터링 주기를 촘촘히 설정해 효과를 조기 확인하세요.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슬라이드 12 — 결론 및 Q&amp;A</a:t>
            </a:r>
          </a:p>
          <a:p>
            <a:pPr lvl="0" indent="0" marL="0">
              <a:buNone/>
            </a:pPr>
            <a:r>
              <a:rPr/>
              <a:t>제목: 결론 및 요청사항</a:t>
            </a:r>
          </a:p>
          <a:p>
            <a:pPr lvl="0" indent="0" marL="0">
              <a:buNone/>
            </a:pPr>
            <a:r>
              <a:rPr/>
              <a:t>본문(불릿): - 요약: 핵심 위험(상위3)과 실행 가능한 개선안 제시(비용·기간 명시) - 요청: 예산 승인(총 4,000,000원), 시범구역 설치 승인, 정기점검 협조 - 연락처: 발표자 이메일 / 전화</a:t>
            </a:r>
          </a:p>
          <a:p>
            <a:pPr lvl="0" indent="0" marL="0">
              <a:buNone/>
            </a:pPr>
            <a:r>
              <a:rPr/>
              <a:t>발표자 노트: 핵심 메시지를 다시 한번 짧게 정리하고 Q&amp;A로 유도하세요.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부록(추가 자료, 필요시 삽입)</a:t>
            </a:r>
          </a:p>
          <a:p>
            <a:pPr lvl="0"/>
            <a:r>
              <a:rPr/>
              <a:t>사고 원자료 표(예시) — 엑셀표로 삽입 권장</a:t>
            </a:r>
          </a:p>
          <a:p>
            <a:pPr lvl="1"/>
            <a:r>
              <a:rPr/>
              <a:t>컬럼: 연도 | 사고유형 | 인원 | 원인 | 조치내역</a:t>
            </a:r>
          </a:p>
          <a:p>
            <a:pPr lvl="1"/>
            <a:r>
              <a:rPr/>
              <a:t>샘플행: 2022 | 추락 | 1 | 난간 미비 | 응급조치 및 개선지시</a:t>
            </a:r>
          </a:p>
          <a:p>
            <a:pPr lvl="0"/>
            <a:r>
              <a:rPr/>
              <a:t>SDS / 측정값 원자료(소음, 분진 수치) 표 삽입 권장</a:t>
            </a:r>
          </a:p>
          <a:p>
            <a:pPr lvl="0" indent="0" marL="0">
              <a:buNone/>
            </a:pPr>
            <a:r>
              <a:rPr/>
              <a:t>파일 생성 및 사용 안내: - 이 파일을 presentations/ 폴더에 올려두었으니 로컬에서 PPTX로 변환·편집하시거나, 이후 실제 PPTX 파일을 추가로 업로드하실 수 있습니다.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2026-08-13T04:44:35Z</dcterms:created>
  <dcterms:modified xsi:type="dcterms:W3CDTF">2026-08-13T04:44:35Z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